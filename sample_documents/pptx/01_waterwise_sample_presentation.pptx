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amp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ple content 2"/>
          <p:cNvSpPr/>
          <p:nvPr/>
        </p:nvSpPr>
        <p:spPr>
          <a:xfrm>
            <a:off x="650000" y="1400000"/>
            <a:ext cx="10900000" cy="1700000"/>
          </a:xfrm>
          <a:prstGeom prst="roundRect">
            <a:avLst/>
          </a:prstGeom>
          <a:solidFill>
            <a:srgbClr val="EAF1FB"/>
          </a:solidFill>
          <a:ln>
            <a:solidFill>
              <a:srgbClr val="4777C8"/>
            </a:solidFill>
          </a:ln>
        </p:spPr>
        <p:txBody>
          <a:bodyPr wrap="square"/>
          <a:lstStyle/>
          <a:p>
            <a:r>
              <a:rPr lang="en-US" sz="2300" b="1"/>
              <a:t>SAMPLE PROJECT | WaterWise</a:t>
            </a:r>
            <a:endParaRPr lang="en-US"/>
          </a:p>
          <a:p>
            <a:r>
              <a:rPr lang="en-US" sz="1650" b="0"/>
              <a:t>A fictional smart irrigation and crop-monitoring prototype</a:t>
            </a:r>
            <a:endParaRPr lang="en-US"/>
          </a:p>
          <a:p>
            <a:r>
              <a:rPr lang="en-US" sz="1650" b="0"/>
              <a:t>Cedar Lab | Classroom demonstration only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ple content 2"/>
          <p:cNvSpPr/>
          <p:nvPr/>
        </p:nvSpPr>
        <p:spPr>
          <a:xfrm>
            <a:off x="650000" y="1400000"/>
            <a:ext cx="10900000" cy="1700000"/>
          </a:xfrm>
          <a:prstGeom prst="roundRect">
            <a:avLst/>
          </a:prstGeom>
          <a:solidFill>
            <a:srgbClr val="EAF1FB"/>
          </a:solidFill>
          <a:ln>
            <a:solidFill>
              <a:srgbClr val="4777C8"/>
            </a:solidFill>
          </a:ln>
        </p:spPr>
        <p:txBody>
          <a:bodyPr wrap="square"/>
          <a:lstStyle/>
          <a:p>
            <a:r>
              <a:rPr lang="en-US" sz="2300" b="1"/>
              <a:t>The problem</a:t>
            </a:r>
            <a:endParaRPr lang="en-US"/>
          </a:p>
          <a:p>
            <a:r>
              <a:rPr lang="en-US" sz="1650" b="0"/>
              <a:t>Fixed watering schedules can waste water after rainfall. Volunteers need readable sensor history and clear missing-data indicators.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ple content 2"/>
          <p:cNvSpPr/>
          <p:nvPr/>
        </p:nvSpPr>
        <p:spPr>
          <a:xfrm>
            <a:off x="650000" y="1400000"/>
            <a:ext cx="10900000" cy="1700000"/>
          </a:xfrm>
          <a:prstGeom prst="roundRect">
            <a:avLst/>
          </a:prstGeom>
          <a:solidFill>
            <a:srgbClr val="EAF1FB"/>
          </a:solidFill>
          <a:ln>
            <a:solidFill>
              <a:srgbClr val="4777C8"/>
            </a:solidFill>
          </a:ln>
        </p:spPr>
        <p:txBody>
          <a:bodyPr wrap="square"/>
          <a:lstStyle/>
          <a:p>
            <a:r>
              <a:rPr lang="en-US" sz="2300" b="1"/>
              <a:t>System flow</a:t>
            </a:r>
            <a:endParaRPr lang="en-US"/>
          </a:p>
          <a:p>
            <a:r>
              <a:rPr lang="en-US" sz="1650" b="0"/>
              <a:t>Soil sensor -&gt; gateway validation -&gt; SQLite readings -&gt; browser dashboard</a:t>
            </a:r>
            <a:endParaRPr lang="en-US"/>
          </a:p>
          <a:p>
            <a:r>
              <a:rPr lang="en-US" sz="1650" b="0"/>
              <a:t>Readings are sampled every fifteen minutes in the fictional prototype.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ple content 2"/>
          <p:cNvSpPr/>
          <p:nvPr/>
        </p:nvSpPr>
        <p:spPr>
          <a:xfrm>
            <a:off x="650000" y="1400000"/>
            <a:ext cx="10900000" cy="1700000"/>
          </a:xfrm>
          <a:prstGeom prst="roundRect">
            <a:avLst/>
          </a:prstGeom>
          <a:solidFill>
            <a:srgbClr val="EAF1FB"/>
          </a:solidFill>
          <a:ln>
            <a:solidFill>
              <a:srgbClr val="4777C8"/>
            </a:solidFill>
          </a:ln>
        </p:spPr>
        <p:txBody>
          <a:bodyPr wrap="square"/>
          <a:lstStyle/>
          <a:p>
            <a:r>
              <a:rPr lang="en-US" sz="2300" b="1"/>
              <a:t>Demonstration findings</a:t>
            </a:r>
            <a:endParaRPr lang="en-US"/>
          </a:p>
          <a:p>
            <a:r>
              <a:rPr lang="en-US" sz="1650" b="0"/>
              <a:t>Four fictional garden plots were observed for six weeks. Sample dataset: median scheduled watering was 18 percent lower than baseline.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ple content 2"/>
          <p:cNvSpPr/>
          <p:nvPr/>
        </p:nvSpPr>
        <p:spPr>
          <a:xfrm>
            <a:off x="650000" y="1400000"/>
            <a:ext cx="10900000" cy="1700000"/>
          </a:xfrm>
          <a:prstGeom prst="roundRect">
            <a:avLst/>
          </a:prstGeom>
          <a:solidFill>
            <a:srgbClr val="EAF1FB"/>
          </a:solidFill>
          <a:ln>
            <a:solidFill>
              <a:srgbClr val="4777C8"/>
            </a:solidFill>
          </a:ln>
        </p:spPr>
        <p:txBody>
          <a:bodyPr wrap="square"/>
          <a:lstStyle/>
          <a:p>
            <a:r>
              <a:rPr lang="en-US" sz="2300" b="1"/>
              <a:t>Limitations and next steps</a:t>
            </a:r>
            <a:endParaRPr lang="en-US"/>
          </a:p>
          <a:p>
            <a:r>
              <a:rPr lang="en-US" sz="1650" b="0"/>
              <a:t>The 28 percent threshold is a demo setting, not general advice. Calibrate each sensor, add rain-gauge data, and let a person confirm recommendations.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iles Fictional Samples">
  <a:themeElements>
    <a:clrScheme name="SmartFiles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4777C8"/>
      </a:accent1>
      <a:accent2>
        <a:srgbClr val="48A999"/>
      </a:accent2>
      <a:accent3>
        <a:srgbClr val="E3A43B"/>
      </a:accent3>
      <a:accent4>
        <a:srgbClr val="C95A63"/>
      </a:accent4>
      <a:accent5>
        <a:srgbClr val="8064A2"/>
      </a:accent5>
      <a:accent6>
        <a:srgbClr val="4B9BB0"/>
      </a:accent6>
      <a:hlink>
        <a:srgbClr val="0563C1"/>
      </a:hlink>
      <a:folHlink>
        <a:srgbClr val="954F72"/>
      </a:folHlink>
    </a:clrScheme>
    <a:fontScheme name="SmartFiles">
      <a:majorFont>
        <a:latin typeface="Aptos Display"/>
      </a:majorFont>
      <a:minorFont>
        <a:latin typeface="Aptos"/>
      </a:minorFont>
    </a:fontScheme>
    <a:fmtScheme name="SmartFil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6350">
          <a:solidFill>
            <a:schemeClr val="phClr"/>
          </a:solidFill>
          <a:prstDash val="solid"/>
        </a:ln>
        <a:ln w="63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